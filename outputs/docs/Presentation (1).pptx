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9" r:id="rId4"/>
    <p:sldMasterId id="2147483744" r:id="rId5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7" r:id="rId10"/>
    <p:sldId id="266" r:id="rId11"/>
    <p:sldId id="268" r:id="rId12"/>
    <p:sldId id="260" r:id="rId13"/>
    <p:sldId id="269" r:id="rId14"/>
    <p:sldId id="270" r:id="rId15"/>
    <p:sldId id="271" r:id="rId16"/>
    <p:sldId id="272" r:id="rId17"/>
    <p:sldId id="273" r:id="rId18"/>
    <p:sldId id="274" r:id="rId19"/>
    <p:sldId id="262" r:id="rId20"/>
    <p:sldId id="263" r:id="rId21"/>
    <p:sldId id="26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64CFF-EB9D-4AD6-A876-FE0CEEC70493}" v="15" dt="2026-04-20T18:03:19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68" y="816"/>
      </p:cViewPr>
      <p:guideLst/>
    </p:cSldViewPr>
  </p:slideViewPr>
  <p:notesTextViewPr>
    <p:cViewPr>
      <p:scale>
        <a:sx n="1" d="1"/>
        <a:sy n="1" d="1"/>
      </p:scale>
      <p:origin x="0" y="-74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chana ganga" userId="8d7aa0eab5c619f6" providerId="LiveId" clId="{60ED2B2E-C459-4535-B875-AE0F6E789134}"/>
    <pc:docChg chg="modSld">
      <pc:chgData name="kanchana ganga" userId="8d7aa0eab5c619f6" providerId="LiveId" clId="{60ED2B2E-C459-4535-B875-AE0F6E789134}" dt="2026-04-20T18:03:18.084" v="18" actId="20577"/>
      <pc:docMkLst>
        <pc:docMk/>
      </pc:docMkLst>
      <pc:sldChg chg="modSp mod modNotesTx">
        <pc:chgData name="kanchana ganga" userId="8d7aa0eab5c619f6" providerId="LiveId" clId="{60ED2B2E-C459-4535-B875-AE0F6E789134}" dt="2026-04-20T17:51:41.238" v="10" actId="20577"/>
        <pc:sldMkLst>
          <pc:docMk/>
          <pc:sldMk cId="2352028880" sldId="256"/>
        </pc:sldMkLst>
        <pc:spChg chg="mod">
          <ac:chgData name="kanchana ganga" userId="8d7aa0eab5c619f6" providerId="LiveId" clId="{60ED2B2E-C459-4535-B875-AE0F6E789134}" dt="2026-04-20T17:19:33.458" v="9" actId="255"/>
          <ac:spMkLst>
            <pc:docMk/>
            <pc:sldMk cId="2352028880" sldId="256"/>
            <ac:spMk id="3" creationId="{0323E1E8-4588-F79E-3132-D90D12E27A8F}"/>
          </ac:spMkLst>
        </pc:spChg>
      </pc:sldChg>
      <pc:sldChg chg="modNotesTx">
        <pc:chgData name="kanchana ganga" userId="8d7aa0eab5c619f6" providerId="LiveId" clId="{60ED2B2E-C459-4535-B875-AE0F6E789134}" dt="2026-04-20T17:51:52.090" v="11" actId="20577"/>
        <pc:sldMkLst>
          <pc:docMk/>
          <pc:sldMk cId="969359783" sldId="257"/>
        </pc:sldMkLst>
      </pc:sldChg>
      <pc:sldChg chg="modNotesTx">
        <pc:chgData name="kanchana ganga" userId="8d7aa0eab5c619f6" providerId="LiveId" clId="{60ED2B2E-C459-4535-B875-AE0F6E789134}" dt="2026-04-20T17:54:14.470" v="13" actId="20577"/>
        <pc:sldMkLst>
          <pc:docMk/>
          <pc:sldMk cId="3403466878" sldId="259"/>
        </pc:sldMkLst>
      </pc:sldChg>
      <pc:sldChg chg="modNotesTx">
        <pc:chgData name="kanchana ganga" userId="8d7aa0eab5c619f6" providerId="LiveId" clId="{60ED2B2E-C459-4535-B875-AE0F6E789134}" dt="2026-04-20T17:54:42.654" v="14" actId="20577"/>
        <pc:sldMkLst>
          <pc:docMk/>
          <pc:sldMk cId="2629006112" sldId="267"/>
        </pc:sldMkLst>
      </pc:sldChg>
      <pc:sldChg chg="modNotesTx">
        <pc:chgData name="kanchana ganga" userId="8d7aa0eab5c619f6" providerId="LiveId" clId="{60ED2B2E-C459-4535-B875-AE0F6E789134}" dt="2026-04-20T18:00:00.328" v="16" actId="20577"/>
        <pc:sldMkLst>
          <pc:docMk/>
          <pc:sldMk cId="4244673859" sldId="269"/>
        </pc:sldMkLst>
      </pc:sldChg>
      <pc:sldChg chg="modNotesTx">
        <pc:chgData name="kanchana ganga" userId="8d7aa0eab5c619f6" providerId="LiveId" clId="{60ED2B2E-C459-4535-B875-AE0F6E789134}" dt="2026-04-20T18:03:18.084" v="18" actId="20577"/>
        <pc:sldMkLst>
          <pc:docMk/>
          <pc:sldMk cId="1693546781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C2B7-5603-E847-9CCD-B17BCD70217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B055-8057-8042-A9DC-340E25EB4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we are presenting our capstone project titled </a:t>
            </a:r>
            <a:r>
              <a:rPr lang="en-US" i="1" dirty="0"/>
              <a:t>An Intelligent Database System for Food Nutrition Analysis and Prediction</a:t>
            </a:r>
            <a:r>
              <a:rPr lang="en-US" dirty="0"/>
              <a:t>.</a:t>
            </a:r>
          </a:p>
          <a:p>
            <a:r>
              <a:rPr lang="en-US" dirty="0"/>
              <a:t>This project focuses on combining database systems, analytics, and machine learning.”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2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“Nutrition data is large, complex, and often difficult to analyze.</a:t>
            </a:r>
            <a:br>
              <a:rPr lang="en-US" dirty="0"/>
            </a:br>
            <a:r>
              <a:rPr lang="en-US" dirty="0"/>
              <a:t>Traditional methods are not efficient for handling such data.</a:t>
            </a:r>
            <a:br>
              <a:rPr lang="en-US" dirty="0"/>
            </a:br>
            <a:r>
              <a:rPr lang="en-US" dirty="0"/>
              <a:t>Databases help organize structured data, while machine learning helps in prediction.</a:t>
            </a:r>
            <a:br>
              <a:rPr lang="en-US" dirty="0"/>
            </a:br>
            <a:r>
              <a:rPr lang="en-US" dirty="0"/>
              <a:t>So, our project integrates database systems with analytics and machine learning.”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45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“Food datasets contain multiple nutrients for each dish.</a:t>
            </a:r>
            <a:br>
              <a:rPr lang="en-US" dirty="0"/>
            </a:br>
            <a:r>
              <a:rPr lang="en-US" dirty="0"/>
              <a:t>If stored in flat tables, they create redundancy and inefficiency.</a:t>
            </a:r>
            <a:br>
              <a:rPr lang="en-US" dirty="0"/>
            </a:br>
            <a:r>
              <a:rPr lang="en-US" dirty="0"/>
              <a:t>Using relational databases helps reduce redundancy and improves performance.</a:t>
            </a:r>
            <a:br>
              <a:rPr lang="en-US" dirty="0"/>
            </a:br>
            <a:r>
              <a:rPr lang="en-US" dirty="0"/>
              <a:t>SQL allows us to perform powerful queries, and machine learning helps in predicting calorie values.”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48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main problem we identified is that food nutrition datasets are often unstructured and inconsistent.</a:t>
            </a:r>
            <a:br>
              <a:rPr lang="en-US" dirty="0"/>
            </a:br>
            <a:r>
              <a:rPr lang="en-US" dirty="0"/>
              <a:t>They contain redundant data when stored in flat tables, which leads to inefficiency.</a:t>
            </a:r>
            <a:br>
              <a:rPr lang="en-US" dirty="0"/>
            </a:br>
            <a:r>
              <a:rPr lang="en-US" dirty="0"/>
              <a:t>It is also difficult to perform fast and meaningful analysis using raw data.</a:t>
            </a:r>
            <a:br>
              <a:rPr lang="en-US" dirty="0"/>
            </a:br>
            <a:r>
              <a:rPr lang="en-US" dirty="0"/>
              <a:t>Additionally, there is no proper system to predict calorie values.</a:t>
            </a:r>
            <a:br>
              <a:rPr lang="en-US" dirty="0"/>
            </a:br>
            <a:r>
              <a:rPr lang="en-US" dirty="0"/>
              <a:t>So, we needed a solution that combines structured data storage with analytical and predictive capabilities.”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24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objective of our project is to design a system that efficiently stores and analyzes nutrition data.</a:t>
            </a:r>
            <a:br>
              <a:rPr lang="en-US" dirty="0"/>
            </a:br>
            <a:r>
              <a:rPr lang="en-US" dirty="0"/>
              <a:t>We aimed to build a normalized database to remove redundancy and ensure data integrity.</a:t>
            </a:r>
            <a:br>
              <a:rPr lang="en-US" dirty="0"/>
            </a:br>
            <a:r>
              <a:rPr lang="en-US" dirty="0"/>
              <a:t>We also implemented an ETL process to clean and prepare the dataset.</a:t>
            </a:r>
            <a:br>
              <a:rPr lang="en-US" dirty="0"/>
            </a:br>
            <a:r>
              <a:rPr lang="en-US" dirty="0"/>
              <a:t>Using SQL, we performed analytical queries to extract insights.</a:t>
            </a:r>
            <a:br>
              <a:rPr lang="en-US" dirty="0"/>
            </a:br>
            <a:r>
              <a:rPr lang="en-US" dirty="0"/>
              <a:t>Finally, we developed machine learning models to predict calorie values and visualize the results for better understanding.”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05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“We followed a structured approach.</a:t>
            </a:r>
            <a:br>
              <a:rPr lang="en-US" dirty="0"/>
            </a:br>
            <a:r>
              <a:rPr lang="en-US" dirty="0"/>
              <a:t>First, we designed a normalized schema in 3NF.</a:t>
            </a:r>
            <a:br>
              <a:rPr lang="en-US" dirty="0"/>
            </a:br>
            <a:r>
              <a:rPr lang="en-US" dirty="0"/>
              <a:t>Then we built an ETL pipeline using Python to clean the data.</a:t>
            </a:r>
            <a:br>
              <a:rPr lang="en-US" dirty="0"/>
            </a:br>
            <a:r>
              <a:rPr lang="en-US" dirty="0"/>
              <a:t>Next, we loaded the data into MySQL and created SQL queries and views.</a:t>
            </a:r>
            <a:br>
              <a:rPr lang="en-US" dirty="0"/>
            </a:br>
            <a:r>
              <a:rPr lang="en-US" dirty="0"/>
              <a:t>Finally, we developed machine learning models for prediction.”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83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“Using SQL, we performed different types of analysis such as</a:t>
            </a:r>
            <a:br>
              <a:rPr lang="en-US" dirty="0"/>
            </a:br>
            <a:r>
              <a:rPr lang="en-US" dirty="0"/>
              <a:t>finding high-protein foods, low-calorie foods,</a:t>
            </a:r>
            <a:br>
              <a:rPr lang="en-US" dirty="0"/>
            </a:br>
            <a:r>
              <a:rPr lang="en-US" dirty="0"/>
              <a:t>and understanding nutrient distributions.</a:t>
            </a:r>
            <a:br>
              <a:rPr lang="en-US" dirty="0"/>
            </a:br>
            <a:r>
              <a:rPr lang="en-US" dirty="0"/>
              <a:t>This shows how databases can efficiently extract insights from data.”</a:t>
            </a:r>
          </a:p>
          <a:p>
            <a:r>
              <a:rPr lang="en-US" dirty="0"/>
              <a:t>“This query shows the top 10 high-protein foods from our database. </a:t>
            </a:r>
          </a:p>
          <a:p>
            <a:r>
              <a:rPr lang="en-US" dirty="0"/>
              <a:t>It demonstrates how SQL can be used to extract meaningful insights efficiently.”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81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Extracted low-calorie food options </a:t>
            </a:r>
          </a:p>
          <a:p>
            <a:r>
              <a:rPr lang="en-US" dirty="0"/>
              <a:t>Useful for weight management insights </a:t>
            </a:r>
          </a:p>
          <a:p>
            <a:r>
              <a:rPr lang="en-US" dirty="0"/>
              <a:t>Demonstrates ranking using SQL queries </a:t>
            </a:r>
          </a:p>
          <a:p>
            <a:r>
              <a:rPr lang="en-US" dirty="0"/>
              <a:t>Enables quick nutritional decision-making </a:t>
            </a:r>
          </a:p>
          <a:p>
            <a:endParaRPr lang="en-US" dirty="0"/>
          </a:p>
          <a:p>
            <a:r>
              <a:rPr lang="en-US" dirty="0"/>
              <a:t>This table stores nutrient values for each dish.</a:t>
            </a:r>
            <a:br>
              <a:rPr lang="en-US" dirty="0"/>
            </a:br>
            <a:r>
              <a:rPr lang="en-US" dirty="0"/>
              <a:t>Each dish is linked to multiple nutrients using </a:t>
            </a:r>
            <a:r>
              <a:rPr lang="en-US" dirty="0" err="1"/>
              <a:t>dish_id</a:t>
            </a:r>
            <a:r>
              <a:rPr lang="en-US" dirty="0"/>
              <a:t> and </a:t>
            </a:r>
            <a:r>
              <a:rPr lang="en-US" dirty="0" err="1"/>
              <a:t>nutrient_id</a:t>
            </a:r>
            <a:r>
              <a:rPr lang="en-US" dirty="0"/>
              <a:t>.</a:t>
            </a:r>
            <a:br>
              <a:rPr lang="en-US" dirty="0"/>
            </a:br>
            <a:r>
              <a:rPr lang="en-US"/>
              <a:t>This design avoids duplication and supports efficient analysis.”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B055-8057-8042-A9DC-340E25EB49F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68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417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66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0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3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6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0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321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2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55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11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5403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270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4129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428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66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31D5-4CBA-B958-66E5-1D06CE60A685}"/>
              </a:ext>
            </a:extLst>
          </p:cNvPr>
          <p:cNvSpPr/>
          <p:nvPr/>
        </p:nvSpPr>
        <p:spPr>
          <a:xfrm>
            <a:off x="457200" y="1110996"/>
            <a:ext cx="11277600" cy="46360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59B00B-2A72-3526-46B5-2D31EFBA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3AC4E3-F9DF-C029-69FF-01D7C04D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70" y="6031065"/>
            <a:ext cx="9144000" cy="54864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7A7DF-A880-1D22-F809-631CB36C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645FC2-7E06-2307-2D7B-2B52E50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C6B4DC52-CC44-D647-BBB1-762854F46572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CE0142-6727-D96E-8B4C-F8DC42F3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1" name="Picture 10" descr="A lemons on a branch&#10;&#10;AI-generated content may be incorrect.">
            <a:extLst>
              <a:ext uri="{FF2B5EF4-FFF2-40B4-BE49-F238E27FC236}">
                <a16:creationId xmlns:a16="http://schemas.microsoft.com/office/drawing/2014/main" id="{617993DE-FCA3-752E-CB4D-EE0CBE74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94"/>
          <a:stretch>
            <a:fillRect/>
          </a:stretch>
        </p:blipFill>
        <p:spPr>
          <a:xfrm>
            <a:off x="6251965" y="1110995"/>
            <a:ext cx="5482836" cy="46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100584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0"/>
            <a:ext cx="11274552" cy="429768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4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43E3D-F1B4-8814-CBFD-54B6394BA78F}"/>
              </a:ext>
            </a:extLst>
          </p:cNvPr>
          <p:cNvSpPr/>
          <p:nvPr/>
        </p:nvSpPr>
        <p:spPr>
          <a:xfrm>
            <a:off x="0" y="0"/>
            <a:ext cx="12192000" cy="40720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480560"/>
            <a:ext cx="11274552" cy="9969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532535"/>
            <a:ext cx="11274552" cy="5486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1"/>
            <a:ext cx="11274552" cy="3111499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749300-EB7F-2826-88A0-CB3E4B36C0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0BE1CD-8E53-8DE9-82CF-9813E2925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85CE52D-B630-4803-B6B1-978CBC39E2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2FA9DB-1C23-8847-8157-4FA9725CC381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87BAA-B8F3-6F9A-35D6-79C20A14A9DC}"/>
              </a:ext>
            </a:extLst>
          </p:cNvPr>
          <p:cNvSpPr/>
          <p:nvPr/>
        </p:nvSpPr>
        <p:spPr>
          <a:xfrm>
            <a:off x="5090160" y="-1"/>
            <a:ext cx="710184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548640"/>
            <a:ext cx="417576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492488"/>
            <a:ext cx="417576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C3368D-40FA-88E5-2622-5C794E187D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BA8E-1A54-1C96-093B-B44E6200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9077" y="6126480"/>
            <a:ext cx="210312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7656-FDD0-1CCB-57C9-0B3A32C50C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06709" y="6126480"/>
            <a:ext cx="1626250" cy="365125"/>
          </a:xfrm>
        </p:spPr>
        <p:txBody>
          <a:bodyPr/>
          <a:lstStyle/>
          <a:p>
            <a:fld id="{84E3F07D-7317-3440-A531-3AA29DD45979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7360" y="457200"/>
            <a:ext cx="6187440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4852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2DD718-F017-AE4C-FB9F-B4557EA33522}"/>
              </a:ext>
            </a:extLst>
          </p:cNvPr>
          <p:cNvSpPr/>
          <p:nvPr/>
        </p:nvSpPr>
        <p:spPr>
          <a:xfrm>
            <a:off x="0" y="-1"/>
            <a:ext cx="71628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618" y="457200"/>
            <a:ext cx="4112182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2618" y="4870174"/>
            <a:ext cx="411480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57200" y="457200"/>
            <a:ext cx="623625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46577E-8831-2287-F882-043365FBE3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30823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256CB-DBBA-7F98-5D6E-65BAC30806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28420" y="6126480"/>
            <a:ext cx="2717314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7DDC16-6E73-6885-8380-0E401292C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5734" y="6126480"/>
            <a:ext cx="991684" cy="365125"/>
          </a:xfrm>
        </p:spPr>
        <p:txBody>
          <a:bodyPr/>
          <a:lstStyle/>
          <a:p>
            <a:fld id="{28CD2E8A-C0A9-4347-A584-9C026C30AB40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246537-4B75-474B-2A12-4A3572BEA2EC}"/>
              </a:ext>
            </a:extLst>
          </p:cNvPr>
          <p:cNvSpPr/>
          <p:nvPr/>
        </p:nvSpPr>
        <p:spPr>
          <a:xfrm>
            <a:off x="0" y="-1"/>
            <a:ext cx="73152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584" y="457200"/>
            <a:ext cx="4114800" cy="37997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581" y="4403039"/>
            <a:ext cx="3959352" cy="14630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6400800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15057E-7A11-B5DB-0534-D81539866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77611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74E8DD-5B33-6D4C-0DDF-CB27D8491E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3715" y="6126480"/>
            <a:ext cx="252286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F415EC-0AD6-6198-0FC5-D47053F2FBF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81835" y="6126480"/>
            <a:ext cx="948098" cy="365125"/>
          </a:xfrm>
        </p:spPr>
        <p:txBody>
          <a:bodyPr/>
          <a:lstStyle/>
          <a:p>
            <a:fld id="{B2E8E543-FE9A-4843-9AB8-691F5895E16D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5BD72-5536-F3FE-33EF-8633D55A2D61}"/>
              </a:ext>
            </a:extLst>
          </p:cNvPr>
          <p:cNvSpPr/>
          <p:nvPr/>
        </p:nvSpPr>
        <p:spPr>
          <a:xfrm>
            <a:off x="468772" y="1155432"/>
            <a:ext cx="11274552" cy="4253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59B19-9CED-B375-2B62-A6035F09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5656357"/>
            <a:ext cx="11274552" cy="935512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7984-A4B6-F007-847A-B07D938E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329" y="365760"/>
            <a:ext cx="8349343" cy="5407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3C01443A-552D-4FF4-DE2A-271C95288D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459" y="1155432"/>
            <a:ext cx="427908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30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DE5E9-85A8-0FC5-7F43-2E0EABF782DF}"/>
              </a:ext>
            </a:extLst>
          </p:cNvPr>
          <p:cNvSpPr/>
          <p:nvPr/>
        </p:nvSpPr>
        <p:spPr>
          <a:xfrm>
            <a:off x="457200" y="457199"/>
            <a:ext cx="4092338" cy="5943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0CA3D-7603-670A-D8C7-708AE9FA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8" y="1711444"/>
            <a:ext cx="6858001" cy="492977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1682ED-44B0-7547-E137-F0B1DA93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83629"/>
            <a:ext cx="3899647" cy="97715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15BE8FF9-7851-AB46-405F-0AA70A4B66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613" t="-1" b="-3044"/>
          <a:stretch>
            <a:fillRect/>
          </a:stretch>
        </p:blipFill>
        <p:spPr>
          <a:xfrm>
            <a:off x="457200" y="460148"/>
            <a:ext cx="4710576" cy="63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49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198"/>
            <a:ext cx="5140452" cy="61996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AE76-095C-A207-5846-53F5F689F718}"/>
              </a:ext>
            </a:extLst>
          </p:cNvPr>
          <p:cNvSpPr/>
          <p:nvPr/>
        </p:nvSpPr>
        <p:spPr>
          <a:xfrm>
            <a:off x="6096000" y="457200"/>
            <a:ext cx="5617029" cy="5943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emons on a branch with blue leaves&#10;&#10;AI-generated content may be incorrect.">
            <a:extLst>
              <a:ext uri="{FF2B5EF4-FFF2-40B4-BE49-F238E27FC236}">
                <a16:creationId xmlns:a16="http://schemas.microsoft.com/office/drawing/2014/main" id="{65E78305-C5E3-6063-CB40-26C0D5E0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53" y="457194"/>
            <a:ext cx="7277476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8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98790"/>
            <a:ext cx="6400800" cy="1247197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3520" y="2557825"/>
            <a:ext cx="6400800" cy="3185025"/>
          </a:xfrm>
        </p:spPr>
        <p:txBody>
          <a:bodyPr anchor="b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F1D5-6C74-2344-B02C-988BD7DE5058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81EAF-576F-9050-A03B-54F899B4C07A}"/>
              </a:ext>
            </a:extLst>
          </p:cNvPr>
          <p:cNvSpPr/>
          <p:nvPr/>
        </p:nvSpPr>
        <p:spPr>
          <a:xfrm>
            <a:off x="411481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emon on a branch&#10;&#10;AI-generated content may be incorrect.">
            <a:extLst>
              <a:ext uri="{FF2B5EF4-FFF2-40B4-BE49-F238E27FC236}">
                <a16:creationId xmlns:a16="http://schemas.microsoft.com/office/drawing/2014/main" id="{C7EE14FD-1F7E-7416-B121-07AC7950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4" y="557784"/>
            <a:ext cx="479807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09020-BF03-712A-9029-505DB1E628D4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3749040" cy="2834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0568" y="914399"/>
            <a:ext cx="6126480" cy="4480560"/>
          </a:xfrm>
        </p:spPr>
        <p:txBody>
          <a:bodyPr anchor="t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6B5E-0855-9440-AA3D-7D15E0A5A0A9}" type="datetime1">
              <a:rPr lang="en-US" smtClean="0"/>
              <a:t>4/20/2026</a:t>
            </a:fld>
            <a:endParaRPr lang="en-US"/>
          </a:p>
        </p:txBody>
      </p:sp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8C201F69-ACDC-EC3F-66B0-D7107872DC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98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B4B979-1FB0-5E72-46AC-50BC7CFE6907}"/>
              </a:ext>
            </a:extLst>
          </p:cNvPr>
          <p:cNvSpPr/>
          <p:nvPr/>
        </p:nvSpPr>
        <p:spPr>
          <a:xfrm>
            <a:off x="0" y="-1"/>
            <a:ext cx="457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23" y="914400"/>
            <a:ext cx="6126480" cy="118872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3657600" cy="59436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5224" y="2468880"/>
            <a:ext cx="6126480" cy="3436789"/>
          </a:xfrm>
        </p:spPr>
        <p:txBody>
          <a:bodyPr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2000" baseline="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800" baseline="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600" baseline="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 baseline="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12806-9D4B-B331-8FBA-9E389069CF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50561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280FE9-C0C5-BEEF-1C01-F53C19D152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48158" y="612648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13CDBE3-275E-E9FB-D64A-5856C14B07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29874" y="6126480"/>
            <a:ext cx="1328185" cy="365125"/>
          </a:xfrm>
        </p:spPr>
        <p:txBody>
          <a:bodyPr/>
          <a:lstStyle/>
          <a:p>
            <a:fld id="{20EA976F-543A-3147-8F10-92D90F1FB7DE}" type="datetime1">
              <a:rPr lang="en-US" smtClean="0"/>
              <a:t>4/20/2026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61A4B5C7-FD62-4D7D-A791-54AB1ABC8C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642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2A3C-8A73-964C-A7B1-9C66EB8F456D}" type="datetime1">
              <a:rPr lang="en-US" smtClean="0"/>
              <a:t>4/20/2026</a:t>
            </a:fld>
            <a:endParaRPr lang="en-US"/>
          </a:p>
        </p:txBody>
      </p:sp>
      <p:pic>
        <p:nvPicPr>
          <p:cNvPr id="11" name="Picture 10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ED6ACC6-8535-9138-3CC3-23292E127C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3" name="Picture 12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9891E051-0BB5-0815-2DD6-BBEBCE603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4" name="Picture 1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B2C36771-C253-85DB-E144-61D9EB19FC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72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-2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86283C0-8ECE-D2EA-E5E3-6F15CF15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234" y="1315451"/>
            <a:ext cx="3163825" cy="18889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0872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8469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9106" y="274320"/>
            <a:ext cx="938954" cy="365125"/>
          </a:xfrm>
        </p:spPr>
        <p:txBody>
          <a:bodyPr/>
          <a:lstStyle/>
          <a:p>
            <a:fld id="{16BEDD57-7FB0-8C49-978A-2E5AD4193CAB}" type="datetime1">
              <a:rPr lang="en-US" smtClean="0"/>
              <a:t>4/20/2026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7DC67AD-3301-6431-3E36-B83AA13337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0" y="3335363"/>
            <a:ext cx="3162699" cy="2372709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lose up of a blue and yellow leaf&#10;&#10;AI-generated content may be incorrect.">
            <a:extLst>
              <a:ext uri="{FF2B5EF4-FFF2-40B4-BE49-F238E27FC236}">
                <a16:creationId xmlns:a16="http://schemas.microsoft.com/office/drawing/2014/main" id="{F4AA3198-0DF5-E044-FEBD-0A08E92D5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62919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8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4053840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807023-B064-9646-E49E-9AEF600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5453"/>
            <a:ext cx="3163824" cy="1888923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249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846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9646" y="274320"/>
            <a:ext cx="970791" cy="365125"/>
          </a:xfrm>
        </p:spPr>
        <p:txBody>
          <a:bodyPr/>
          <a:lstStyle/>
          <a:p>
            <a:fld id="{3398BDEE-7079-9E46-9D3D-C026D74D657A}" type="datetime1">
              <a:rPr lang="en-US" smtClean="0"/>
              <a:t>4/20/2026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635AD-DF42-C262-C20D-FDB7B4116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5364"/>
            <a:ext cx="3163824" cy="3107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ADF17735-1EF3-3E8F-EE23-73AE24B0CF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5" r="9359" b="30270"/>
          <a:stretch>
            <a:fillRect/>
          </a:stretch>
        </p:blipFill>
        <p:spPr>
          <a:xfrm>
            <a:off x="3795759" y="0"/>
            <a:ext cx="8396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00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A1B6-7262-A14C-9D8B-572C17D5CCAA}" type="datetime1">
              <a:rPr lang="en-US" smtClean="0"/>
              <a:t>4/20/2026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3359F0E-3165-F69F-DECE-2D1FB68E17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5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914400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B914E-727D-924F-AF8C-57D7CD572093}" type="datetime1">
              <a:rPr lang="en-US" smtClean="0"/>
              <a:t>4/20/2026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A830C04B-A250-7A15-C730-C6A3AFCB9C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175848" y="5943599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220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17" y="731520"/>
            <a:ext cx="8658766" cy="1005840"/>
          </a:xfrm>
        </p:spPr>
        <p:txBody>
          <a:bodyPr anchor="b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AD03-5543-5055-E5F3-2C2E7AF4A6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53413" y="1995858"/>
            <a:ext cx="6884668" cy="3739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492AF-A293-67AC-351D-6F8D2EE5A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12EA25-588C-6976-3F71-17F5A88C9A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EAD482-3B0C-B1C6-EDE0-9F5AD7972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0565B3-CF1A-E942-97FF-0B9F398F7855}" type="datetime1">
              <a:rPr lang="en-US" smtClean="0"/>
              <a:t>4/20/2026</a:t>
            </a:fld>
            <a:endParaRPr lang="en-US"/>
          </a:p>
        </p:txBody>
      </p:sp>
      <p:pic>
        <p:nvPicPr>
          <p:cNvPr id="3" name="Picture 2" descr="A blue leafy plant&#10;&#10;AI-generated content may be incorrect.">
            <a:extLst>
              <a:ext uri="{FF2B5EF4-FFF2-40B4-BE49-F238E27FC236}">
                <a16:creationId xmlns:a16="http://schemas.microsoft.com/office/drawing/2014/main" id="{7514231A-DFF9-EEC8-7FD8-6D51A7E9FF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9" name="Picture 8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A6D137FE-2907-46A6-B35B-5A4CAE628A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  <p:pic>
        <p:nvPicPr>
          <p:cNvPr id="15" name="Picture 14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04E727C6-2D47-C987-AC9F-2BBBF9654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1893" y="301334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115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914400"/>
            <a:ext cx="69574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40358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A344-177D-9B4D-B4B5-DB629B3B0E97}" type="datetime1">
              <a:rPr lang="en-US" smtClean="0"/>
              <a:t>4/20/2026</a:t>
            </a:fld>
            <a:endParaRPr lang="en-US"/>
          </a:p>
        </p:txBody>
      </p:sp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15D9329-8404-8FB6-440F-E9849300BA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07"/>
          <a:stretch>
            <a:fillRect/>
          </a:stretch>
        </p:blipFill>
        <p:spPr>
          <a:xfrm rot="16200000">
            <a:off x="2766204" y="5165090"/>
            <a:ext cx="2052320" cy="1333500"/>
          </a:xfrm>
          <a:prstGeom prst="rect">
            <a:avLst/>
          </a:prstGeom>
        </p:spPr>
      </p:pic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583DC239-1B91-3F75-7E85-D0A752FB00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595299">
            <a:off x="1217794" y="4109349"/>
            <a:ext cx="2058669" cy="103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913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292A7410-B2FC-D132-8D8C-4AF1B50705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6" t="289" r="43489" b="8672"/>
          <a:stretch>
            <a:fillRect/>
          </a:stretch>
        </p:blipFill>
        <p:spPr>
          <a:xfrm>
            <a:off x="8120743" y="0"/>
            <a:ext cx="40712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109728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828800"/>
            <a:ext cx="7315199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9251" y="6126480"/>
            <a:ext cx="2073147" cy="365125"/>
          </a:xfrm>
        </p:spPr>
        <p:txBody>
          <a:bodyPr/>
          <a:lstStyle/>
          <a:p>
            <a:fld id="{5A7A0291-FBD7-2345-9C81-5FC586A6DB9E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07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6C8C-4A02-004B-93D7-C0DBD4026299}" type="datetime1">
              <a:rPr lang="en-US" smtClean="0"/>
              <a:t>4/20/2026</a:t>
            </a:fld>
            <a:endParaRPr lang="en-US"/>
          </a:p>
        </p:txBody>
      </p:sp>
      <p:pic>
        <p:nvPicPr>
          <p:cNvPr id="7" name="Picture 6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E136570-804C-5DD0-226A-419BDFE89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9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DBE0D0-60D9-A8DD-819A-4EC6098596AA}"/>
              </a:ext>
            </a:extLst>
          </p:cNvPr>
          <p:cNvSpPr/>
          <p:nvPr/>
        </p:nvSpPr>
        <p:spPr>
          <a:xfrm>
            <a:off x="0" y="-1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90C2D-E9F9-B5AC-3789-289AA8EF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327" y="642192"/>
            <a:ext cx="3172968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66327" y="3011335"/>
            <a:ext cx="316253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6C8A42-D773-E384-D003-FF92C7D3D7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73862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62C323-6B9B-80DF-EF74-D99250EE92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71459" y="6126480"/>
            <a:ext cx="193412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DB1-F652-6E69-77F4-F055AD2AF6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92496" y="6126480"/>
            <a:ext cx="965564" cy="365125"/>
          </a:xfrm>
        </p:spPr>
        <p:txBody>
          <a:bodyPr/>
          <a:lstStyle/>
          <a:p>
            <a:fld id="{954F3EE5-5A62-1142-B29B-2D79B0DFBB49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29CE5-A8CD-ED9A-7F5A-693443689EAB}"/>
              </a:ext>
            </a:extLst>
          </p:cNvPr>
          <p:cNvSpPr/>
          <p:nvPr/>
        </p:nvSpPr>
        <p:spPr>
          <a:xfrm>
            <a:off x="4145280" y="-1"/>
            <a:ext cx="80467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F1C8EF-0052-4E1D-ADC9-E3E4FD32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5" y="642192"/>
            <a:ext cx="3274169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11335"/>
            <a:ext cx="3274169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3EBD6B-DFDB-0D0B-252B-324DA354B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7FC8F1-C8AE-5332-F165-13ED9003C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18954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B703-6F6B-3A91-C03F-5AA8FECF96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4563" y="6126480"/>
            <a:ext cx="1033988" cy="365125"/>
          </a:xfrm>
        </p:spPr>
        <p:txBody>
          <a:bodyPr/>
          <a:lstStyle/>
          <a:p>
            <a:fld id="{72C7549D-B911-DC4D-9096-0244F27A5122}" type="datetime1">
              <a:rPr lang="en-US" smtClean="0"/>
              <a:t>4/20/2026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62665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AE976-70C1-E011-D1BD-A186B254606F}"/>
              </a:ext>
            </a:extLst>
          </p:cNvPr>
          <p:cNvSpPr/>
          <p:nvPr/>
        </p:nvSpPr>
        <p:spPr>
          <a:xfrm>
            <a:off x="0" y="-1"/>
            <a:ext cx="12192000" cy="42062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0688BC7-C8A7-1B9D-DD5A-CC721C82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4206240" cy="1124712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4552" cy="3261360"/>
          </a:xfrm>
          <a:blipFill dpi="0" rotWithShape="1">
            <a:blip r:embed="rId2">
              <a:alphaModFix amt="60000"/>
            </a:blip>
            <a:srcRect/>
            <a:stretch>
              <a:fillRect t="1" b="-89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4663440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99B38A-E62D-AD07-98E2-F076BBB690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33DF7-70E3-8959-4BBB-88BA646FC8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6559B-3088-D543-8627-C631D5D845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E3B3F6E-3994-0241-BCBC-BC1EBD257F6E}" type="datetime1">
              <a:rPr lang="en-US" smtClean="0"/>
              <a:t>4/20/2026</a:t>
            </a:fld>
            <a:endParaRPr lang="en-US"/>
          </a:p>
        </p:txBody>
      </p:sp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68BD559-5C7D-BCAB-EDFF-9A833E2B58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6400800" y="6144768"/>
            <a:ext cx="2330721" cy="717107"/>
          </a:xfrm>
          <a:prstGeom prst="rect">
            <a:avLst/>
          </a:prstGeom>
        </p:spPr>
      </p:pic>
      <p:pic>
        <p:nvPicPr>
          <p:cNvPr id="5" name="Picture 4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351BF7C7-47D5-CE17-B30C-3114D6A147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8" b="-8356"/>
          <a:stretch>
            <a:fillRect/>
          </a:stretch>
        </p:blipFill>
        <p:spPr>
          <a:xfrm rot="16200000" flipV="1">
            <a:off x="3316541" y="5909308"/>
            <a:ext cx="609599" cy="12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88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F14464-19AB-7D13-BD0E-2F857D32DD8F}"/>
              </a:ext>
            </a:extLst>
          </p:cNvPr>
          <p:cNvSpPr/>
          <p:nvPr/>
        </p:nvSpPr>
        <p:spPr>
          <a:xfrm>
            <a:off x="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CE19939-7641-D440-ED1C-43937E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168" y="457200"/>
            <a:ext cx="3895344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3168" y="2315569"/>
            <a:ext cx="3894892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D974-688E-6389-B676-3716A5DCE5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87460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1A75-2855-5D82-EF5E-AC8CBFD270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72204" y="6126480"/>
            <a:ext cx="21945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B728D-FE97-BBB3-3103-FB1096F041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4766" y="6126480"/>
            <a:ext cx="1313294" cy="365125"/>
          </a:xfrm>
        </p:spPr>
        <p:txBody>
          <a:bodyPr/>
          <a:lstStyle/>
          <a:p>
            <a:fld id="{CEBAFC1B-AD29-C14A-91E0-0745420D0140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97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497F40-707E-796F-73DC-2241DB51A1A9}"/>
              </a:ext>
            </a:extLst>
          </p:cNvPr>
          <p:cNvSpPr/>
          <p:nvPr/>
        </p:nvSpPr>
        <p:spPr>
          <a:xfrm>
            <a:off x="469392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A1B64-CA7C-74CC-8184-E144FC10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315569"/>
            <a:ext cx="384048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C24-AAEE-1EBE-5C8A-D731F7EDF2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2662-2578-560F-F095-F1A11F44A0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E15DD-1F7C-8AB3-8EFB-E573908E03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18354" y="6126480"/>
            <a:ext cx="1079325" cy="365125"/>
          </a:xfrm>
        </p:spPr>
        <p:txBody>
          <a:bodyPr/>
          <a:lstStyle/>
          <a:p>
            <a:fld id="{BCA30940-2954-AA4F-9BFF-1013B5D668D8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56498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31765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65BFA-D1C6-FAD3-7B5D-029C855B189E}"/>
              </a:ext>
            </a:extLst>
          </p:cNvPr>
          <p:cNvSpPr/>
          <p:nvPr/>
        </p:nvSpPr>
        <p:spPr>
          <a:xfrm>
            <a:off x="0" y="-1"/>
            <a:ext cx="65379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499533"/>
            <a:ext cx="4754880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5626608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975104"/>
            <a:ext cx="475488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E5B76-563B-3E92-FB3E-1D2C9717E8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104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20868-4C6A-1C68-6ECA-7B1457F096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07996" y="6126480"/>
            <a:ext cx="28346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3A40-40CC-8BCE-4C26-6B49E64D6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90220" y="6126480"/>
            <a:ext cx="1467840" cy="365125"/>
          </a:xfrm>
        </p:spPr>
        <p:txBody>
          <a:bodyPr/>
          <a:lstStyle/>
          <a:p>
            <a:fld id="{5A0B49E7-1C5B-AD4A-B8C0-4550FE0A0235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34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98AE30-B0EC-6508-4AB4-7253892A47C9}"/>
              </a:ext>
            </a:extLst>
          </p:cNvPr>
          <p:cNvSpPr/>
          <p:nvPr/>
        </p:nvSpPr>
        <p:spPr>
          <a:xfrm>
            <a:off x="5516880" y="-1"/>
            <a:ext cx="66751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59361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20240"/>
            <a:ext cx="459349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9C4D3-7A66-D54C-679E-5F2210D54F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DF43-22E2-E52D-1677-E2ECB5B98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200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CC0E3-6C08-1723-74E8-C1EF05EFF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041314" y="6126480"/>
            <a:ext cx="1009377" cy="365125"/>
          </a:xfrm>
        </p:spPr>
        <p:txBody>
          <a:bodyPr/>
          <a:lstStyle/>
          <a:p>
            <a:fld id="{948C343A-B82F-4143-9348-1F135B2BF1BF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35040" y="457200"/>
            <a:ext cx="5661996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2145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E9926E-1454-088A-DAEE-81D8FCE1A622}"/>
              </a:ext>
            </a:extLst>
          </p:cNvPr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80757"/>
            <a:ext cx="3044954" cy="20116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508" y="457200"/>
            <a:ext cx="11274552" cy="2528633"/>
          </a:xfrm>
          <a:blipFill dpi="0" rotWithShape="1">
            <a:blip r:embed="rId2">
              <a:alphaModFix amt="60000"/>
            </a:blip>
            <a:srcRect/>
            <a:stretch>
              <a:fillRect t="1" r="-233" b="-175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79669" y="3880758"/>
            <a:ext cx="7900851" cy="2011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A1C8-408E-D74D-B08B-E4740ED27994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17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5840"/>
            <a:ext cx="3021873" cy="129763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3CE2-FA19-A0C1-5803-D6CB70AE52C4}"/>
              </a:ext>
            </a:extLst>
          </p:cNvPr>
          <p:cNvSpPr/>
          <p:nvPr/>
        </p:nvSpPr>
        <p:spPr>
          <a:xfrm>
            <a:off x="0" y="3636524"/>
            <a:ext cx="12192000" cy="32214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F2C2E6-D9FF-7960-30D4-3996CAF0E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1480" y="27432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6CECD4-053E-15EE-496E-9BA230A30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274320"/>
            <a:ext cx="37242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77D76-068A-6817-DE61-41E5920B1A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839459" y="274320"/>
            <a:ext cx="1918601" cy="365125"/>
          </a:xfrm>
        </p:spPr>
        <p:txBody>
          <a:bodyPr/>
          <a:lstStyle/>
          <a:p>
            <a:fld id="{74C1E1D0-99FC-0441-BDC2-0A5DDB99B607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53543" y="1005840"/>
            <a:ext cx="7904517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004" y="4128448"/>
            <a:ext cx="11274056" cy="228530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l="2" t="227" r="-270" b="-952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830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049D46-A039-8FE9-795E-B9A09588FB81}"/>
              </a:ext>
            </a:extLst>
          </p:cNvPr>
          <p:cNvSpPr/>
          <p:nvPr/>
        </p:nvSpPr>
        <p:spPr>
          <a:xfrm>
            <a:off x="0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751" y="514175"/>
            <a:ext cx="6400800" cy="131502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3952393" cy="59436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3108" y="1978488"/>
            <a:ext cx="640080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CD20-9BC1-4411-A4E2-3B37C24049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12105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AD34-905D-5BB9-666C-2F8C95D63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09702" y="6126480"/>
            <a:ext cx="397521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4FBA4-81B9-2387-9280-85A1A169CC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F5157-4209-D142-B123-F174FB18FA7D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170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5BA68-BEB6-20D9-ED99-49AE2037C723}"/>
              </a:ext>
            </a:extLst>
          </p:cNvPr>
          <p:cNvSpPr/>
          <p:nvPr/>
        </p:nvSpPr>
        <p:spPr>
          <a:xfrm>
            <a:off x="7305675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428962" cy="11430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737360"/>
            <a:ext cx="6428963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8AAF-8DE6-EAE0-C3BC-3EF1475AC6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2C07-7A5F-BEB6-7A29-9DAB0CF47A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BFD0-0424-7C4B-20AF-00D4497D7F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39443" y="6126480"/>
            <a:ext cx="2346720" cy="365125"/>
          </a:xfrm>
        </p:spPr>
        <p:txBody>
          <a:bodyPr/>
          <a:lstStyle/>
          <a:p>
            <a:fld id="{D4039460-34D4-104F-A87D-31820CDD6266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69731" y="457200"/>
            <a:ext cx="395821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4240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326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" y="1737360"/>
            <a:ext cx="4812154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FCA8-9BD5-0D66-6653-7B45B382C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2138-E28D-3ED2-F911-171BA61DE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1089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15DE3-263F-5B56-80FE-04252DA7AF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49874" y="6126480"/>
            <a:ext cx="1273760" cy="365125"/>
          </a:xfrm>
        </p:spPr>
        <p:txBody>
          <a:bodyPr/>
          <a:lstStyle/>
          <a:p>
            <a:fld id="{1134199F-B77C-624E-8596-34C330D06B24}" type="datetime1">
              <a:rPr lang="en-US" smtClean="0"/>
              <a:t>4/20/2026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37360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15129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6589777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492918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759" y="1737360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E5AF-145E-4F1A-BB20-9409893575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8992-9744-9F81-E393-2C3F1988DB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553C8-D720-0A9C-1422-FB597AA90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6D95950-DF64-8142-88A4-F8F59685720D}" type="datetime1">
              <a:rPr lang="en-US" smtClean="0"/>
              <a:t>4/20/2026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15AFBE3-40C6-81D7-9428-700F64A385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544" y="-1098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34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9857233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37361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b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37360"/>
            <a:ext cx="466344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37D0-8E8C-36F0-C09F-3935C5F5A1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98034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5FE1-47F3-1838-9838-5F3981F5C0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95631" y="6126480"/>
            <a:ext cx="281880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ADA45-5086-049B-5151-875044D0EB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314432" y="6126480"/>
            <a:ext cx="1443628" cy="365125"/>
          </a:xfrm>
        </p:spPr>
        <p:txBody>
          <a:bodyPr/>
          <a:lstStyle/>
          <a:p>
            <a:fld id="{05030E4E-627B-D64F-876E-5B4D0895463B}" type="datetime1">
              <a:rPr lang="en-US" smtClean="0"/>
              <a:t>4/20/2026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749E5-FB47-A780-BB70-15427C5C9C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924" r="48863"/>
          <a:stretch>
            <a:fillRect/>
          </a:stretch>
        </p:blipFill>
        <p:spPr>
          <a:xfrm>
            <a:off x="10841171" y="-1694"/>
            <a:ext cx="1350829" cy="707766"/>
          </a:xfrm>
          <a:prstGeom prst="rect">
            <a:avLst/>
          </a:prstGeom>
        </p:spPr>
      </p:pic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CC4A5946-E946-3908-F594-36D825BAA6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53" b="-3752"/>
          <a:stretch>
            <a:fillRect/>
          </a:stretch>
        </p:blipFill>
        <p:spPr>
          <a:xfrm rot="16200000" flipH="1">
            <a:off x="10305612" y="-161869"/>
            <a:ext cx="611235" cy="9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14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976" y="457200"/>
            <a:ext cx="7315200" cy="10058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06976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CCFB6-66BF-D5A2-4EF3-833708DF04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06976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AED9-FD69-CDB3-CE31-233F9E999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04572" y="6126480"/>
            <a:ext cx="36576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4576-1D70-8D69-935F-F5841843BF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B7EF76-FB1E-EA44-B271-29D75F3FBB25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26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9144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1AD-BC5C-0681-77D2-AA2DD3FACC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FFF4-D46A-BAF9-7B12-CCCCD9D4B9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3D3FC-835B-4DD5-6FB4-1C61B80E1E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782614" y="6126480"/>
            <a:ext cx="1989786" cy="365125"/>
          </a:xfrm>
        </p:spPr>
        <p:txBody>
          <a:bodyPr/>
          <a:lstStyle/>
          <a:p>
            <a:fld id="{45042452-74AC-7E41-8CDA-7073C00E876C}" type="datetime1">
              <a:rPr lang="en-US" smtClean="0"/>
              <a:t>4/20/2026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74182" y="0"/>
            <a:ext cx="4017817" cy="6858000"/>
          </a:xfrm>
          <a:blipFill dpi="0" rotWithShape="1">
            <a:blip r:embed="rId2">
              <a:alphaModFix amt="60000"/>
            </a:blip>
            <a:srcRect/>
            <a:stretch>
              <a:fillRect l="-205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97948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564763" cy="1269482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1968816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0688" y="457200"/>
            <a:ext cx="6217920" cy="54752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6359-BBC3-9E40-B171-C99E9F4933E9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89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540760" cy="131634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089842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59" y="457200"/>
            <a:ext cx="7254239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EBE4-268E-1643-A712-CC93702C9C05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21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1070" y="457200"/>
            <a:ext cx="8129861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66D84-D695-C745-96DB-748C5AC7D514}" type="datetime1">
              <a:rPr lang="en-US" smtClean="0"/>
              <a:t>4/20/2026</a:t>
            </a:fld>
            <a:endParaRPr lang="en-US"/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937E1ED-1028-57A9-8653-199F587CAA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56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4892040"/>
            <a:ext cx="9762068" cy="106070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457200"/>
            <a:ext cx="7315200" cy="45354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814E37-7324-6845-87AB-412490586DE2}" type="datetime1">
              <a:rPr lang="en-US" smtClean="0">
                <a:solidFill>
                  <a:schemeClr val="tx2"/>
                </a:solidFill>
              </a:rPr>
              <a:t>4/20/2026</a:t>
            </a:fld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880C214-5B6A-CB20-C2B7-43282B9B1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in a circle&#10;&#10;AI-generated content may be incorrect.">
            <a:extLst>
              <a:ext uri="{FF2B5EF4-FFF2-40B4-BE49-F238E27FC236}">
                <a16:creationId xmlns:a16="http://schemas.microsoft.com/office/drawing/2014/main" id="{BF0F0DCE-304C-EF8B-B97E-3821483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397696"/>
            <a:ext cx="5486400" cy="1463040"/>
          </a:xfrm>
        </p:spPr>
        <p:txBody>
          <a:bodyPr anchor="t" anchorCtr="0">
            <a:normAutofit/>
          </a:bodyPr>
          <a:lstStyle>
            <a:lvl1pPr algn="ctr">
              <a:lnSpc>
                <a:spcPct val="11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74069" y="1171579"/>
            <a:ext cx="8043862" cy="356616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25823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2600" y="365760"/>
            <a:ext cx="8686800" cy="5486400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 algn="ctr">
              <a:lnSpc>
                <a:spcPct val="80000"/>
              </a:lnSpc>
              <a:buNone/>
              <a:defRPr sz="60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 algn="ctr">
              <a:lnSpc>
                <a:spcPct val="80000"/>
              </a:lnSpc>
              <a:buNone/>
              <a:defRPr sz="5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 algn="ctr">
              <a:lnSpc>
                <a:spcPct val="80000"/>
              </a:lnSpc>
              <a:buNone/>
              <a:defRPr sz="48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 algn="ctr">
              <a:lnSpc>
                <a:spcPct val="80000"/>
              </a:lnSpc>
              <a:buNone/>
              <a:defRPr sz="4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944B1-A93B-F147-9A5A-D2620572B4B1}" type="datetime1">
              <a:rPr lang="en-US" smtClean="0"/>
              <a:t>4/20/2026</a:t>
            </a:fld>
            <a:endParaRPr lang="en-US"/>
          </a:p>
        </p:txBody>
      </p:sp>
      <p:pic>
        <p:nvPicPr>
          <p:cNvPr id="10" name="Picture 9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296154C5-7B40-49CB-E343-73980D8C70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  <p:pic>
        <p:nvPicPr>
          <p:cNvPr id="12" name="Picture 11" descr="A blue leafy plant&#10;&#10;AI-generated content may be incorrect.">
            <a:extLst>
              <a:ext uri="{FF2B5EF4-FFF2-40B4-BE49-F238E27FC236}">
                <a16:creationId xmlns:a16="http://schemas.microsoft.com/office/drawing/2014/main" id="{C5608801-CE38-1990-EC36-5F382F3AC3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13" name="Picture 1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97485C4-99A6-761F-6BC9-2157F7BE1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851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FF848890-CE01-9C1B-6EF2-542D922D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15024" y="1040528"/>
            <a:ext cx="5843035" cy="457200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48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44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40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36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32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1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0B913-2D3E-D2F1-2DC5-E8D1EB38E455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1280160"/>
            <a:ext cx="10515600" cy="41148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1C0D-A5B5-3D43-825A-85FAF7F7BC22}" type="datetime1">
              <a:rPr lang="en-US" smtClean="0"/>
              <a:t>4/20/2026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1CCED1F3-3CEB-D840-3519-74AC605E8D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0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25D851B-A4D3-5C99-951A-68207FA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693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195516"/>
            <a:ext cx="576072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5760720" cy="4579422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4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79664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9600" y="4941517"/>
            <a:ext cx="558800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9600" y="1049867"/>
            <a:ext cx="5588000" cy="3657597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8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73AE9-869B-7BF3-50A5-234196163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FEB0EA-071D-4499-B42D-F2B8EA0508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50E06B-939B-0AAF-0ECC-655004CFE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7E73F5-CCA3-444E-8B15-361BEE3A4343}" type="datetime1">
              <a:rPr lang="en-US" smtClean="0"/>
              <a:t>4/20/2026</a:t>
            </a:fld>
            <a:endParaRPr lang="en-US"/>
          </a:p>
        </p:txBody>
      </p:sp>
      <p:pic>
        <p:nvPicPr>
          <p:cNvPr id="4" name="Picture 3" descr="A lemon on a branch&#10;&#10;AI-generated content may be incorrect.">
            <a:extLst>
              <a:ext uri="{FF2B5EF4-FFF2-40B4-BE49-F238E27FC236}">
                <a16:creationId xmlns:a16="http://schemas.microsoft.com/office/drawing/2014/main" id="{6C8943F9-BACC-FB6D-553E-E3ABEBDA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" y="935877"/>
            <a:ext cx="413122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9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4955722"/>
            <a:ext cx="7772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9800" y="1344168"/>
            <a:ext cx="777240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E1FAE426-B259-9B7E-DA6B-E052E1FCE6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1" name="Picture 10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A0E2D79-EB43-8B87-7AC2-A0043A5E3F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373C030-FF01-D4D1-E8D8-0EE4E6036E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43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leaves in a circle&#10;&#10;AI-generated content may be incorrect.">
            <a:extLst>
              <a:ext uri="{FF2B5EF4-FFF2-40B4-BE49-F238E27FC236}">
                <a16:creationId xmlns:a16="http://schemas.microsoft.com/office/drawing/2014/main" id="{E981F3B3-629F-D680-2DF2-E8D2A2A6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4782298"/>
            <a:ext cx="5486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4160" y="1344168"/>
            <a:ext cx="658368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3394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60374-D5A7-578F-94DF-B3AE40A63D76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0FC988-C014-CA7D-7F26-4EDC15295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838" y="4553078"/>
            <a:ext cx="5638800" cy="788610"/>
          </a:xfrm>
        </p:spPr>
        <p:txBody>
          <a:bodyPr/>
          <a:lstStyle>
            <a:lvl1pPr>
              <a:lnSpc>
                <a:spcPct val="120000"/>
              </a:lnSpc>
              <a:defRPr sz="180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BC7C1D-C941-64F4-959E-B9487BF4CD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9837" y="1047879"/>
            <a:ext cx="8483601" cy="3371850"/>
          </a:xfrm>
        </p:spPr>
        <p:txBody>
          <a:bodyPr anchor="ctr"/>
          <a:lstStyle>
            <a:lvl1pPr indent="0">
              <a:lnSpc>
                <a:spcPct val="80000"/>
              </a:lnSpc>
              <a:buNone/>
              <a:defRPr sz="54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28BD-4B0C-2949-B92B-496E78197D17}" type="datetime1">
              <a:rPr lang="en-US" smtClean="0"/>
              <a:t>4/20/2026</a:t>
            </a:fld>
            <a:endParaRPr lang="en-US"/>
          </a:p>
        </p:txBody>
      </p:sp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AD9087A2-9DF4-E9FD-70DE-819B7480E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83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2980446A-4C51-EF2C-7912-750EC88087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315200" y="-1"/>
            <a:ext cx="3361254" cy="1034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4176"/>
            <a:ext cx="11300859" cy="138898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651760"/>
            <a:ext cx="1130086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E4B0-8B14-9B4C-A31A-5987B81B3FF3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852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57870-6258-3787-62B9-78CC66A2B053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32720" cy="1371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51760"/>
            <a:ext cx="1033272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6A54-899C-E541-8E52-4AB7D9961575}" type="datetime1">
              <a:rPr lang="en-US" smtClean="0"/>
              <a:t>4/20/2026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DF688FE8-69D4-9BEF-4BAA-95000B6B0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8274" y="5524901"/>
            <a:ext cx="6065596" cy="13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345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5486400" cy="2514600"/>
          </a:xfrm>
        </p:spPr>
        <p:txBody>
          <a:bodyPr anchor="b" anchorCtr="0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82336"/>
            <a:ext cx="5486400" cy="231840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A97-A7C4-9F40-8A0A-FE5948AA7EAD}" type="datetime1">
              <a:rPr lang="en-US" smtClean="0"/>
              <a:t>4/20/2026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8A79B-2A35-A3D9-A7ED-DE7607A5B87F}"/>
              </a:ext>
            </a:extLst>
          </p:cNvPr>
          <p:cNvSpPr/>
          <p:nvPr/>
        </p:nvSpPr>
        <p:spPr>
          <a:xfrm>
            <a:off x="7383790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emon on a branch&#10;&#10;AI-generated content may be incorrect.">
            <a:extLst>
              <a:ext uri="{FF2B5EF4-FFF2-40B4-BE49-F238E27FC236}">
                <a16:creationId xmlns:a16="http://schemas.microsoft.com/office/drawing/2014/main" id="{BCAD1063-90DD-E1BB-B6C8-CF21479CD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14" y="553212"/>
            <a:ext cx="4911923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371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CCE39-E894-AE4B-8297-21AAF0EFFD0A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5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736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DF8A-0D91-364D-A077-5FA6DB0BF384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103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1950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A657-91FB-5045-886C-E8C9E2D0FBD3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32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297680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590800"/>
            <a:ext cx="4297680" cy="329184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0"/>
            <a:ext cx="6645812" cy="53949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4/20/2026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1241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849492-8CEA-1782-4908-C537B7CD0034}"/>
              </a:ext>
            </a:extLst>
          </p:cNvPr>
          <p:cNvSpPr/>
          <p:nvPr/>
        </p:nvSpPr>
        <p:spPr>
          <a:xfrm>
            <a:off x="4659682" y="-1"/>
            <a:ext cx="7532318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826137"/>
            <a:ext cx="3778112" cy="3017520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86517" y="6126480"/>
            <a:ext cx="1039521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5073465" y="457200"/>
            <a:ext cx="670475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93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42.xml"/><Relationship Id="rId39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7.xml"/><Relationship Id="rId34" Type="http://schemas.openxmlformats.org/officeDocument/2006/relationships/slideLayout" Target="../slideLayouts/slideLayout50.xml"/><Relationship Id="rId42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63.xml"/><Relationship Id="rId50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71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74.xml"/><Relationship Id="rId5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4.xml"/><Relationship Id="rId56" Type="http://schemas.openxmlformats.org/officeDocument/2006/relationships/slideLayout" Target="../slideLayouts/slideLayout72.xml"/><Relationship Id="rId8" Type="http://schemas.openxmlformats.org/officeDocument/2006/relationships/slideLayout" Target="../slideLayouts/slideLayout24.xml"/><Relationship Id="rId51" Type="http://schemas.openxmlformats.org/officeDocument/2006/relationships/slideLayout" Target="../slideLayouts/slideLayout67.xml"/><Relationship Id="rId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62.xml"/><Relationship Id="rId59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36.xml"/><Relationship Id="rId41" Type="http://schemas.openxmlformats.org/officeDocument/2006/relationships/slideLayout" Target="../slideLayouts/slideLayout57.xml"/><Relationship Id="rId54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52.xml"/><Relationship Id="rId49" Type="http://schemas.openxmlformats.org/officeDocument/2006/relationships/slideLayout" Target="../slideLayouts/slideLayout65.xml"/><Relationship Id="rId57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26.xml"/><Relationship Id="rId31" Type="http://schemas.openxmlformats.org/officeDocument/2006/relationships/slideLayout" Target="../slideLayouts/slideLayout47.xml"/><Relationship Id="rId44" Type="http://schemas.openxmlformats.org/officeDocument/2006/relationships/slideLayout" Target="../slideLayouts/slideLayout60.xml"/><Relationship Id="rId52" Type="http://schemas.openxmlformats.org/officeDocument/2006/relationships/slideLayout" Target="../slideLayouts/slideLayout68.xml"/><Relationship Id="rId6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42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9C9E-5EF9-BB75-4627-4DC5CC6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465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2400-D5E7-A68D-169F-2E18AE0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1825625"/>
            <a:ext cx="1134658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F041-44CD-B171-7760-9BD4A44AF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126480"/>
            <a:ext cx="36576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8213-F4F4-5A28-3082-98832654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077" y="6126480"/>
            <a:ext cx="3698529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940C-5E99-C9E6-92A2-229FA878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4913" y="6126480"/>
            <a:ext cx="2073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F58F0028-8822-3F46-9369-4E11A89384E5}" type="datetime1">
              <a:rPr lang="en-US" smtClean="0"/>
              <a:pPr/>
              <a:t>4/20/2026</a:t>
            </a:fld>
            <a:endParaRPr lang="en-US"/>
          </a:p>
        </p:txBody>
      </p:sp>
      <p:sp>
        <p:nvSpPr>
          <p:cNvPr id="11" name="Freeform 10" hidden="1">
            <a:extLst>
              <a:ext uri="{FF2B5EF4-FFF2-40B4-BE49-F238E27FC236}">
                <a16:creationId xmlns:a16="http://schemas.microsoft.com/office/drawing/2014/main" id="{AD19C17A-2059-B291-5686-A6EE57749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57200 w 12192000"/>
              <a:gd name="csY0" fmla="*/ 457200 h 6858000"/>
              <a:gd name="csX1" fmla="*/ 457200 w 12192000"/>
              <a:gd name="csY1" fmla="*/ 6400800 h 6858000"/>
              <a:gd name="csX2" fmla="*/ 11734800 w 12192000"/>
              <a:gd name="csY2" fmla="*/ 6400800 h 6858000"/>
              <a:gd name="csX3" fmla="*/ 11734800 w 12192000"/>
              <a:gd name="csY3" fmla="*/ 457200 h 6858000"/>
              <a:gd name="csX4" fmla="*/ 0 w 12192000"/>
              <a:gd name="csY4" fmla="*/ 0 h 6858000"/>
              <a:gd name="csX5" fmla="*/ 457200 w 12192000"/>
              <a:gd name="csY5" fmla="*/ 0 h 6858000"/>
              <a:gd name="csX6" fmla="*/ 457200 w 12192000"/>
              <a:gd name="csY6" fmla="*/ 0 h 6858000"/>
              <a:gd name="csX7" fmla="*/ 12190476 w 12192000"/>
              <a:gd name="csY7" fmla="*/ 0 h 6858000"/>
              <a:gd name="csX8" fmla="*/ 12190476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12190476 w 12192000"/>
              <a:gd name="csY11" fmla="*/ 6858000 h 6858000"/>
              <a:gd name="csX12" fmla="*/ 11734800 w 12192000"/>
              <a:gd name="csY12" fmla="*/ 6858000 h 6858000"/>
              <a:gd name="csX13" fmla="*/ 457200 w 12192000"/>
              <a:gd name="csY13" fmla="*/ 6858000 h 6858000"/>
              <a:gd name="csX14" fmla="*/ 1525 w 12192000"/>
              <a:gd name="csY14" fmla="*/ 6858000 h 6858000"/>
              <a:gd name="csX15" fmla="*/ 0 w 12192000"/>
              <a:gd name="csY15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192000" h="6858000">
                <a:moveTo>
                  <a:pt x="457200" y="457200"/>
                </a:moveTo>
                <a:lnTo>
                  <a:pt x="457200" y="6400800"/>
                </a:lnTo>
                <a:lnTo>
                  <a:pt x="11734800" y="6400800"/>
                </a:lnTo>
                <a:lnTo>
                  <a:pt x="11734800" y="4572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457200" y="0"/>
                </a:lnTo>
                <a:lnTo>
                  <a:pt x="12190476" y="0"/>
                </a:lnTo>
                <a:lnTo>
                  <a:pt x="12190476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0476" y="6858000"/>
                </a:lnTo>
                <a:lnTo>
                  <a:pt x="11734800" y="6858000"/>
                </a:lnTo>
                <a:lnTo>
                  <a:pt x="457200" y="6858000"/>
                </a:lnTo>
                <a:lnTo>
                  <a:pt x="1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200" baseline="0">
          <a:solidFill>
            <a:schemeClr val="tx1"/>
          </a:solidFill>
          <a:latin typeface="+mj-lt"/>
          <a:ea typeface="+mj-ea"/>
          <a:cs typeface="Urdu Typesetting" panose="03020402040406030203" pitchFamily="66" charset="-78"/>
        </a:defRPr>
      </a:lvl1pPr>
    </p:titleStyle>
    <p:bodyStyle>
      <a:lvl1pPr marL="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3pPr>
      <a:lvl4pPr marL="804672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4pPr>
      <a:lvl5pPr marL="1024128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190-6C6B-103B-6784-A34365AB5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703" y="-546622"/>
            <a:ext cx="10215622" cy="2573135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latin typeface="Times New Roman"/>
                <a:ea typeface="+mj-lt"/>
                <a:cs typeface="Times New Roman"/>
              </a:rPr>
              <a:t>An Intelligent </a:t>
            </a:r>
            <a:br>
              <a:rPr lang="en-US" sz="4000" dirty="0">
                <a:latin typeface="Times New Roman"/>
                <a:ea typeface="+mj-lt"/>
                <a:cs typeface="Times New Roman"/>
              </a:rPr>
            </a:br>
            <a:r>
              <a:rPr lang="en-US" sz="4000">
                <a:latin typeface="Times New Roman"/>
                <a:ea typeface="+mj-lt"/>
                <a:cs typeface="Times New Roman"/>
              </a:rPr>
              <a:t>Database System for Food Nutrition Analysis and Prediction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E1E8-4588-F79E-3132-D90D12E27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2994" y="2300879"/>
            <a:ext cx="14880943" cy="404331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YOUNGSTOWN STATE UNIVERSITY</a:t>
            </a:r>
          </a:p>
          <a:p>
            <a:r>
              <a:rPr lang="en-US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Capstone Project Presentation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Team members:</a:t>
            </a:r>
          </a:p>
          <a:p>
            <a:pPr marL="342900"/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KANCHANA GANGA VELURU   Y00877425</a:t>
            </a:r>
          </a:p>
          <a:p>
            <a:pPr marL="342900"/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DEETYA REDDY NEERUGUTTI  Y00886336</a:t>
            </a:r>
          </a:p>
          <a:p>
            <a:pPr marL="342900"/>
            <a:r>
              <a:rPr lang="en-US" sz="2000" dirty="0">
                <a:solidFill>
                  <a:schemeClr val="tx1"/>
                </a:solidFill>
                <a:latin typeface="Times New Roman"/>
                <a:cs typeface="Times New Roman"/>
              </a:rPr>
              <a:t>RAJESHWARI BHOOMIREDDY</a:t>
            </a:r>
            <a:r>
              <a:rPr lang="en-US" sz="2000" dirty="0">
                <a:solidFill>
                  <a:srgbClr val="404040"/>
                </a:solidFill>
                <a:latin typeface="Times New Roman"/>
                <a:cs typeface="Times New Roman"/>
              </a:rPr>
              <a:t>   Y00879914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endParaRPr lang="en-US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8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0C604-F9E2-00CD-3B5A-62E321B5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-941104" y="430684"/>
            <a:ext cx="122797" cy="611815"/>
          </a:xfrm>
        </p:spPr>
        <p:txBody>
          <a:bodyPr/>
          <a:lstStyle/>
          <a:p>
            <a:endParaRPr lang="en-US" dirty="0">
              <a:ea typeface="Source Sans Pro Light"/>
              <a:cs typeface="Cordia New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2BDA-165B-093D-2C99-A79E149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2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BE5A3-BC03-63CE-5904-348C1F502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68" y="788570"/>
            <a:ext cx="8911687" cy="1280890"/>
          </a:xfrm>
        </p:spPr>
        <p:txBody>
          <a:bodyPr/>
          <a:lstStyle/>
          <a:p>
            <a:pPr algn="ctr"/>
            <a:r>
              <a:rPr lang="en-US" sz="3200" dirty="0">
                <a:latin typeface="Times New Roman"/>
                <a:cs typeface="Times New Roman"/>
              </a:rPr>
              <a:t>Introduct</a:t>
            </a:r>
            <a:r>
              <a:rPr lang="en-US" sz="3200">
                <a:latin typeface="Times New Roman"/>
                <a:cs typeface="Times New Roman"/>
              </a:rPr>
              <a:t>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4E594-0A63-D247-22D3-BC0610B3F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Times New Roman"/>
              </a:rPr>
              <a:t>Nutrition data is large and complex </a:t>
            </a: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Difficult to manage and analyze efficiently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Databases help organize structured data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Machine learning enables calorie prediction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This project integrates Database + Analytics + ML</a:t>
            </a:r>
            <a:r>
              <a:rPr lang="en-US" sz="2400" dirty="0">
                <a:latin typeface="Times New Roman"/>
                <a:ea typeface="+mn-lt"/>
                <a:cs typeface="Times New Roman"/>
              </a:rPr>
              <a:t> </a:t>
            </a:r>
            <a:endParaRPr lang="en-US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CF996A-30D7-2DBB-FB80-E690E6A3E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67B84-406E-D816-BB47-E9EC2193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C6778-B9E0-E308-CB6D-868456FA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59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845E3-C96A-9B7F-58A5-C7DF6D96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8571" y="788570"/>
            <a:ext cx="8911687" cy="1280890"/>
          </a:xfrm>
        </p:spPr>
        <p:txBody>
          <a:bodyPr/>
          <a:lstStyle/>
          <a:p>
            <a:pPr algn="ctr"/>
            <a:r>
              <a:rPr lang="en-US">
                <a:latin typeface="Times New Roman"/>
                <a:ea typeface="+mj-lt"/>
                <a:cs typeface="Times New Roman"/>
              </a:rPr>
              <a:t>Background</a:t>
            </a:r>
            <a:endParaRPr lang="en-US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8323-3D6A-ACF8-85FA-5EC4982A2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Food datasets contain multiple nutrients per dish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Traditional flat tables lead to redundancy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Normalized relational databases improve efficiency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SQL enables powerful analytical queries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ML models can predict calories based on nutrients</a:t>
            </a:r>
            <a:endParaRPr lang="en-US" sz="240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BD47A3-5035-25A7-2FCA-0439624D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66EDE-C989-27B2-34B0-321C86C4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2AB16-2D5F-20EF-000B-79784DA7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07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2BE2-C2F3-7E97-563C-755B6804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29" y="848873"/>
            <a:ext cx="7053285" cy="1280890"/>
          </a:xfrm>
        </p:spPr>
        <p:txBody>
          <a:bodyPr/>
          <a:lstStyle/>
          <a:p>
            <a:pPr algn="ctr"/>
            <a:r>
              <a:rPr lang="en-US" sz="3000">
                <a:latin typeface="Times New Roman"/>
                <a:ea typeface="+mj-lt"/>
                <a:cs typeface="Times New Roman"/>
              </a:rPr>
              <a:t>Problem Statement</a:t>
            </a:r>
            <a:endParaRPr lang="en-US" sz="3000">
              <a:latin typeface="Century Gothic" panose="020B0502020202020204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FE5DB-51C3-289F-0505-C9656CBC5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Times New Roman"/>
              </a:rPr>
              <a:t>Unstructured and inconsistent nutrition datasets 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Data redundancy in flat storage systems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Limited analytical capabilities using raw data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No predictive mechanism for calorie estimation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Need for an integrated database-driven solution </a:t>
            </a:r>
            <a:endParaRPr lang="en-US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84AA97-F1CB-0AFE-D650-7D8C7452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9CFD0-AAB7-F612-5CC6-0A985EA7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84698-3815-651E-7425-D4EBE1FF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6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D814-B018-BEEF-CACB-1B9E229D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AAA8-8B55-1367-1276-19DDA3194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Design a normalized database (3NF)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Implement ETL for data cleaning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Perform SQL-based analytics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Develop ML models for calorie prediction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Visualize insights for decision-making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00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4674-9F8B-0B0F-0216-93B37A85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System Architecture</a:t>
            </a: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  </a:t>
            </a:r>
            <a:endParaRPr lang="en-US" dirty="0"/>
          </a:p>
        </p:txBody>
      </p:sp>
      <p:pic>
        <p:nvPicPr>
          <p:cNvPr id="6" name="Picture 5" descr="A diagram of a database&#10;&#10;AI-generated content may be incorrect.">
            <a:extLst>
              <a:ext uri="{FF2B5EF4-FFF2-40B4-BE49-F238E27FC236}">
                <a16:creationId xmlns:a16="http://schemas.microsoft.com/office/drawing/2014/main" id="{797F87DB-BC04-B43A-89F9-49B4FCC78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737" y="2019300"/>
            <a:ext cx="1152525" cy="448627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9250B3-0A11-E5E7-19C1-0E414A24E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8483-AFF7-1FB7-A16C-1A03EB8B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ER diagram</a:t>
            </a:r>
          </a:p>
        </p:txBody>
      </p:sp>
      <p:pic>
        <p:nvPicPr>
          <p:cNvPr id="4" name="Content Placeholder 3" descr="A close-up of a label&#10;&#10;AI-generated content may be incorrect.">
            <a:extLst>
              <a:ext uri="{FF2B5EF4-FFF2-40B4-BE49-F238E27FC236}">
                <a16:creationId xmlns:a16="http://schemas.microsoft.com/office/drawing/2014/main" id="{9B0B0098-B912-3C7D-E0FA-BC27868BD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353" y="1903099"/>
            <a:ext cx="8498681" cy="1291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6FA9C-29B2-717D-711B-407F2F1CAA1D}"/>
              </a:ext>
            </a:extLst>
          </p:cNvPr>
          <p:cNvSpPr txBox="1"/>
          <p:nvPr/>
        </p:nvSpPr>
        <p:spPr>
          <a:xfrm>
            <a:off x="2250281" y="3655218"/>
            <a:ext cx="792956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ea typeface="+mn-lt"/>
                <a:cs typeface="Times New Roman"/>
              </a:rPr>
              <a:t>Entities</a:t>
            </a:r>
            <a:endParaRPr lang="en-US" b="1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Dish – Stores food item details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Nutrient – Stores types of nutrients (calories, protein, etc.)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dirty="0" err="1">
                <a:latin typeface="Times New Roman"/>
                <a:ea typeface="+mn-lt"/>
                <a:cs typeface="Times New Roman"/>
              </a:rPr>
              <a:t>Dish_Nutrient</a:t>
            </a:r>
            <a:r>
              <a:rPr lang="en-US" dirty="0">
                <a:latin typeface="Times New Roman"/>
                <a:ea typeface="+mn-lt"/>
                <a:cs typeface="Times New Roman"/>
              </a:rPr>
              <a:t> – Links each dish with its nutrient values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ea typeface="+mn-lt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Key Features</a:t>
            </a:r>
            <a:endParaRPr lang="en-US" b="1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ea typeface="+mn-lt"/>
                <a:cs typeface="Times New Roman"/>
              </a:rPr>
              <a:t>Eliminates data redundancy by separating food and nutrient data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Supports scalability by allowing new nutrients to be added easily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Ensures data integrity using primary and foreign keys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3477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6D0F-1AC4-0BA8-FF62-490E3AAC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>
                <a:latin typeface="Times New Roman"/>
                <a:ea typeface="+mj-lt"/>
                <a:cs typeface="Times New Roman"/>
              </a:rPr>
              <a:t>Methodology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22DC0-0E7C-A428-5400-A45125B8E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Times New Roman"/>
              </a:rPr>
              <a:t>Designed normalized schema (3NF) 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Built ETL pipeline (Python)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Loaded data into MySQL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Created SQL queries and views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Developed ML models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032D0E-1549-212D-9CEF-AB566714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1D585-2D19-3093-D85E-CA80822D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E093E-E5D8-93B1-3B4A-396601B6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72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3659-6CFA-5FD7-A246-FC225EB3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129" y="624110"/>
            <a:ext cx="9688483" cy="1280890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SQL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A288-C137-9FB9-7DF3-75FF90B05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814" y="1305284"/>
            <a:ext cx="9684798" cy="46059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Times New Roman"/>
              </a:rPr>
              <a:t>Identified top high-protein food items</a:t>
            </a:r>
          </a:p>
          <a:p>
            <a:r>
              <a:rPr lang="en-US">
                <a:latin typeface="Times New Roman"/>
                <a:ea typeface="+mn-lt"/>
                <a:cs typeface="Times New Roman"/>
              </a:rPr>
              <a:t>Used SQL sorting with ORDER BY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Helps in protein-based diet recommendations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Demonstrates efficient data filtering</a:t>
            </a:r>
            <a:endParaRPr lang="en-US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644B37-4434-1F6D-E000-CC9345DA8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499" y="991340"/>
            <a:ext cx="5313198" cy="543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73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A955A9-6910-1DEE-5611-4E09C0EBCE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6939" y="576679"/>
            <a:ext cx="5143078" cy="5837789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D9831A-3277-881A-5619-192E7FF8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121" y="575612"/>
            <a:ext cx="6060866" cy="584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46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6757-888B-8EAE-3DB0-ACFF0BA6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MACHINE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3AEE-FAA6-6420-EB1A-5CE67F07B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903" y="1437385"/>
            <a:ext cx="9430709" cy="538385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Models Used:</a:t>
            </a:r>
            <a:endParaRPr lang="en-US" sz="2000" b="1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Linear Regression</a:t>
            </a:r>
          </a:p>
          <a:p>
            <a:pPr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Decision Tree</a:t>
            </a:r>
          </a:p>
          <a:p>
            <a:pPr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Random Forest</a:t>
            </a:r>
          </a:p>
          <a:p>
            <a:pPr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Setup</a:t>
            </a:r>
            <a:r>
              <a:rPr lang="en-US" sz="2000">
                <a:latin typeface="Times New Roman"/>
                <a:ea typeface="+mn-lt"/>
                <a:cs typeface="Times New Roman"/>
              </a:rPr>
              <a:t>:</a:t>
            </a:r>
            <a:endParaRPr lang="en-US" sz="20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Train-test split: 80/20</a:t>
            </a:r>
          </a:p>
          <a:p>
            <a:pPr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Features: Protein, Carbs, Fats</a:t>
            </a:r>
            <a:endParaRPr lang="en-US" sz="20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Target: Calories</a:t>
            </a:r>
          </a:p>
          <a:p>
            <a:pPr>
              <a:buNone/>
            </a:pPr>
            <a:endParaRPr lang="en-US" b="1" dirty="0">
              <a:latin typeface="Times New Roman"/>
              <a:cs typeface="Times New Roman"/>
            </a:endParaRPr>
          </a:p>
          <a:p>
            <a:pPr>
              <a:buNone/>
            </a:pPr>
            <a:endParaRPr lang="en-US" sz="1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835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390B-02E5-FE16-5330-F638022B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431" y="624110"/>
            <a:ext cx="9937181" cy="1280890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6DA42-A922-B050-FBC3-7862506A0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60" y="1264778"/>
            <a:ext cx="10788352" cy="46464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Model Performance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Random Forest achieved the best performance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Outperformed Linear Regression and Decision Tree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Evaluation Metrics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MAE (Mean Absolute Error)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RMSE (Root Mean Square Error)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R² Score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57114E-BB87-6FFC-6B5A-4BF243220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401" y="2324025"/>
            <a:ext cx="6558899" cy="453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40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69D3-1B30-4462-97E0-93C98480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VISUALIZATION</a:t>
            </a:r>
          </a:p>
        </p:txBody>
      </p:sp>
      <p:pic>
        <p:nvPicPr>
          <p:cNvPr id="4" name="Content Placeholder 3" descr="A graph of a distribution of calories&#10;&#10;AI-generated content may be incorrect.">
            <a:extLst>
              <a:ext uri="{FF2B5EF4-FFF2-40B4-BE49-F238E27FC236}">
                <a16:creationId xmlns:a16="http://schemas.microsoft.com/office/drawing/2014/main" id="{16A16A4E-BAE4-26DD-15CB-E4E8AED78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789" y="1901428"/>
            <a:ext cx="6923901" cy="37776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2595BB-E6CC-07F9-26F4-EABF61C9BC04}"/>
              </a:ext>
            </a:extLst>
          </p:cNvPr>
          <p:cNvSpPr txBox="1"/>
          <p:nvPr/>
        </p:nvSpPr>
        <p:spPr>
          <a:xfrm>
            <a:off x="2607468" y="1500187"/>
            <a:ext cx="37742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Calories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345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A33E-77B1-2B60-8EEF-C14A68FD5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7802"/>
            <a:ext cx="8915400" cy="47534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Carbs vs calories 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graph of blue dots&#10;&#10;AI-generated content may be incorrect.">
            <a:extLst>
              <a:ext uri="{FF2B5EF4-FFF2-40B4-BE49-F238E27FC236}">
                <a16:creationId xmlns:a16="http://schemas.microsoft.com/office/drawing/2014/main" id="{3013F74E-90C4-8FBC-433F-9CDE0101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954" y="1726834"/>
            <a:ext cx="7882006" cy="460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968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DE52-0BA0-8E3C-C5EE-08EEA3876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Discussion</a:t>
            </a:r>
            <a:endParaRPr lang="en-US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9EC23-FF61-4BAD-95F8-25ABA5814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Times New Roman"/>
              </a:rPr>
              <a:t>Strong correlation between nutrients and calories 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SQL enabled fast data analysis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Indexing improved performance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ML models enhanced prediction accuracy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System supports data-driven decisions</a:t>
            </a:r>
            <a:endParaRPr lang="en-US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CD148E-3C97-95E3-BCCF-0F15B015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A5CDD-C189-45C4-8E39-21641916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4BBA4-BD96-DB48-AB4A-30166B4C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35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AB89-B2E1-6E75-2784-AA29AC3F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Times New Roman"/>
                <a:ea typeface="+mj-lt"/>
                <a:cs typeface="Times New Roman"/>
              </a:rPr>
              <a:t>Conclusion</a:t>
            </a:r>
            <a:endParaRPr lang="en-US" sz="300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B5739-4034-B9CF-368F-DC685AB09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ea typeface="+mn-lt"/>
                <a:cs typeface="Times New Roman"/>
              </a:rPr>
              <a:t>Built a fully normalized database </a:t>
            </a: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Integrated ETL, SQL, and ML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Enabled efficient analytics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Achieved accurate calorie prediction 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Demonstrated real-world data solution</a:t>
            </a:r>
            <a:endParaRPr lang="en-US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7BD3E91-82CD-A6FD-8EC1-87C8FA248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A9DF7-8ECE-BE44-C80E-6FE34461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EEB9D-71DB-9C01-7091-D27BB162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33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F0FA-C67F-4C9E-57A3-B2A815FB1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997" y="624110"/>
            <a:ext cx="8911687" cy="1280890"/>
          </a:xfrm>
        </p:spPr>
        <p:txBody>
          <a:bodyPr/>
          <a:lstStyle/>
          <a:p>
            <a:r>
              <a:rPr lang="en-US" sz="3000">
                <a:latin typeface="Times New Roman"/>
                <a:ea typeface="+mj-lt"/>
                <a:cs typeface="Times New Roman"/>
              </a:rPr>
              <a:t>Contribution of team members</a:t>
            </a:r>
            <a:endParaRPr lang="en-US" sz="300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3A5D2-4B2A-6A72-0C2E-D3D6A8E37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1258" y="1263934"/>
            <a:ext cx="11280034" cy="545438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Kanchana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ETL + SQL analytics 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"/>
            </a:pP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Deetya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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ML + Visualization 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  <a:buChar char=""/>
            </a:pPr>
            <a:endParaRPr lang="en-US" sz="16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en-US" sz="1600" b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Rajeshwari</a:t>
            </a:r>
            <a:endParaRPr lang="en-US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>
              <a:buFont typeface="Wingdings 3"/>
            </a:pPr>
            <a:r>
              <a:rPr lang="en-US" sz="16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Database + Evaluation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indent="0">
              <a:buNone/>
            </a:pPr>
            <a:endParaRPr lang="en-US" sz="1600" b="1" dirty="0">
              <a:solidFill>
                <a:schemeClr val="tx1"/>
              </a:solidFill>
              <a:latin typeface="Times New Roman"/>
              <a:ea typeface="Source Sans Pro Light"/>
              <a:cs typeface="Times New Roman"/>
            </a:endParaRPr>
          </a:p>
          <a:p>
            <a:endParaRPr lang="en-US" dirty="0">
              <a:solidFill>
                <a:srgbClr val="404040"/>
              </a:solidFill>
              <a:latin typeface="Century Gothic" panose="020B0502020202020204"/>
              <a:cs typeface="Times New Roman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E060230-AAC3-1320-1E22-F5055FFF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F01F2-9C15-41D6-A760-57EDB8FC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3482470" y="7338005"/>
            <a:ext cx="626779" cy="52650"/>
          </a:xfrm>
        </p:spPr>
        <p:txBody>
          <a:bodyPr/>
          <a:lstStyle/>
          <a:p>
            <a:endParaRPr lang="en-US" dirty="0">
              <a:ea typeface="Source Sans Pro Light"/>
              <a:cs typeface="Cordia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78B2D-4C2A-3CCC-9234-0833790C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72635" y="6038768"/>
            <a:ext cx="289012" cy="47476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299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E49B-037F-3663-0A78-7A392CC6C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988" y="624110"/>
            <a:ext cx="10316624" cy="49837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9600"/>
              <a:t>THANK YOU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757369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Roman fresco">
  <a:themeElements>
    <a:clrScheme name="Roman Fresco">
      <a:dk1>
        <a:srgbClr val="000000"/>
      </a:dk1>
      <a:lt1>
        <a:srgbClr val="FFFFFF"/>
      </a:lt1>
      <a:dk2>
        <a:srgbClr val="000221"/>
      </a:dk2>
      <a:lt2>
        <a:srgbClr val="F3ECE1"/>
      </a:lt2>
      <a:accent1>
        <a:srgbClr val="11338A"/>
      </a:accent1>
      <a:accent2>
        <a:srgbClr val="E6B916"/>
      </a:accent2>
      <a:accent3>
        <a:srgbClr val="11338A"/>
      </a:accent3>
      <a:accent4>
        <a:srgbClr val="B9D2DF"/>
      </a:accent4>
      <a:accent5>
        <a:srgbClr val="412D2B"/>
      </a:accent5>
      <a:accent6>
        <a:srgbClr val="DB4C3F"/>
      </a:accent6>
      <a:hlink>
        <a:srgbClr val="467886"/>
      </a:hlink>
      <a:folHlink>
        <a:srgbClr val="96607D"/>
      </a:folHlink>
    </a:clrScheme>
    <a:fontScheme name="Custom 81">
      <a:majorFont>
        <a:latin typeface="Urdu Typesetting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oman Fresco_win32_EF_v3" id="{30A92FB8-B8E2-4F27-ACA7-4493C6097E8E}" vid="{A3B0A0BE-0874-4DF1-BFEB-6232807D4FE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C0A7E9-1715-433B-8855-F7DBB272AE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8BD2F9-1572-4D37-B8FD-8AA9FD060A8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8F5451F-E621-486E-8A64-50FEB3855E59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911</Words>
  <Application>Microsoft Office PowerPoint</Application>
  <PresentationFormat>Widescreen</PresentationFormat>
  <Paragraphs>141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Century Gothic</vt:lpstr>
      <vt:lpstr>Source Sans Pro Light</vt:lpstr>
      <vt:lpstr>Times New Roman</vt:lpstr>
      <vt:lpstr>Univers Light</vt:lpstr>
      <vt:lpstr>Urdu Typesetting</vt:lpstr>
      <vt:lpstr>Wingdings 3</vt:lpstr>
      <vt:lpstr>Wisp</vt:lpstr>
      <vt:lpstr>Roman fresco</vt:lpstr>
      <vt:lpstr>An Intelligent  Database System for Food Nutrition Analysis and Prediction</vt:lpstr>
      <vt:lpstr>Introduction</vt:lpstr>
      <vt:lpstr>Background </vt:lpstr>
      <vt:lpstr>Problem Statement </vt:lpstr>
      <vt:lpstr>OBJECTIVES</vt:lpstr>
      <vt:lpstr>System Architecture       </vt:lpstr>
      <vt:lpstr>ER diagram</vt:lpstr>
      <vt:lpstr>Methodology</vt:lpstr>
      <vt:lpstr>SQL ANALYTICS</vt:lpstr>
      <vt:lpstr>PowerPoint Presentation</vt:lpstr>
      <vt:lpstr>MACHINE LEARNING</vt:lpstr>
      <vt:lpstr>RESULT</vt:lpstr>
      <vt:lpstr>VISUALIZATION</vt:lpstr>
      <vt:lpstr>PowerPoint Presentation</vt:lpstr>
      <vt:lpstr>Discussion </vt:lpstr>
      <vt:lpstr>Conclusion </vt:lpstr>
      <vt:lpstr>Contribution of team members </vt:lpstr>
      <vt:lpstr>THANK YOU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kanchana ganga</cp:lastModifiedBy>
  <cp:revision>374</cp:revision>
  <dcterms:created xsi:type="dcterms:W3CDTF">2026-04-18T17:01:56Z</dcterms:created>
  <dcterms:modified xsi:type="dcterms:W3CDTF">2026-04-20T18:03:26Z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